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theme" Target="theme/theme1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10668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>
          <a:xfrm>
            <a:off x="914400" y="4381500"/>
            <a:ext cx="5486400" cy="36195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Notes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notesMaster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with the churn number.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Title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3400" y="419100"/>
            <a:ext cx="11125200" cy="8572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1524000"/>
            <a:ext cx="11125200" cy="4572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Text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3600">
          <a:solidFill>
            <a:schemeClr val="tx1"/>
          </a:solidFill>
        </a:defRPr>
      </a:lvl1pPr>
    </p:titleStyle>
    <p:bodyStyle>
      <a:lvl1pPr algn="l">
        <a:defRPr sz="2400">
          <a:solidFill>
            <a:schemeClr val="tx1"/>
          </a:solidFill>
        </a:defRPr>
      </a:lvl1pPr>
    </p:bodyStyle>
    <p:otherStyle>
      <a:lvl1pPr algn="l">
        <a:defRPr sz="1800">
          <a:solidFill>
            <a:schemeClr val="tx1"/>
          </a:solidFill>
        </a:defRPr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gif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533400" y="1905000"/>
            <a:ext cx="11125200" cy="1238250"/>
          </a:xfrm>
        </p:spPr>
        <p:txBody>
          <a:bodyPr wrap="square" anchor="ctr">
            <a:normAutofit/>
          </a:bodyPr>
          <a:lstStyle/>
          <a:p>
            <a:pPr marL="0" indent="0" algn="ctr">
              <a:spcBef>
                <a:spcPts val="600"/>
              </a:spcBef>
              <a:buNone/>
            </a:pPr>
            <a:r>
              <a:rPr lang="en-US" sz="4800" b="1" dirty="0">
                <a:solidFill>
                  <a:srgbClr val="FFFFFF"/>
                </a:solidFill>
                <a:latin typeface="Helvetica Neue"/>
              </a:rPr>
              <a:t>Quarterly review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533400" y="3333750"/>
            <a:ext cx="11125200" cy="2286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ctr">
              <a:spcBef>
                <a:spcPts val="600"/>
              </a:spcBef>
              <a:buNone/>
            </a:pPr>
            <a:r>
              <a:rPr lang="en-US" sz="2600" dirty="0">
                <a:solidFill>
                  <a:srgbClr val="FFFFFF"/>
                </a:solidFill>
                <a:latin typeface="Helvetica Neue"/>
              </a:rPr>
              <a:t>Revenue grew in every region.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533400" y="419100"/>
            <a:ext cx="11125200" cy="857250"/>
          </a:xfrm>
        </p:spPr>
        <p:txBody>
          <a:bodyPr wrap="square" anchor="ctr">
            <a:normAutofit/>
          </a:bodyPr>
          <a:lstStyle/>
          <a:p>
            <a:pPr marL="0" indent="0" algn="l">
              <a:spcBef>
                <a:spcPts val="600"/>
              </a:spcBef>
              <a:buNone/>
            </a:pPr>
            <a:r>
              <a:rPr lang="en-US" sz="3600" b="1" dirty="0">
                <a:solidFill>
                  <a:srgbClr val="14355C"/>
                </a:solidFill>
                <a:latin typeface="Helvetica Neue"/>
              </a:rPr>
              <a:t>Where we are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533400" y="1524000"/>
            <a:ext cx="11125200" cy="4572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342900" indent="-342900" algn="l">
              <a:spcBef>
                <a:spcPts val="600"/>
              </a:spcBef>
              <a:buFont typeface="Arial"/>
              <a:buChar char="•"/>
            </a:pPr>
            <a:r>
              <a:rPr lang="en-US" sz="2400" dirty="0">
                <a:solidFill>
                  <a:srgbClr val="1A1A1A"/>
                </a:solidFill>
                <a:latin typeface="Helvetica Neue"/>
              </a:rPr>
              <a:t>Revenue is up 12 percent</a:t>
            </a:r>
          </a:p>
          <a:p>
            <a:pPr marL="342900" indent="-342900" algn="l">
              <a:spcBef>
                <a:spcPts val="600"/>
              </a:spcBef>
              <a:buFont typeface="Arial"/>
              <a:buChar char="•"/>
            </a:pPr>
            <a:r>
              <a:rPr lang="en-US" sz="2400" dirty="0">
                <a:solidFill>
                  <a:srgbClr val="1A1A1A"/>
                </a:solidFill>
                <a:latin typeface="Helvetica Neue"/>
              </a:rPr>
              <a:t>Churn is down to 2.1 percent</a:t>
            </a:r>
          </a:p>
          <a:p>
            <a:pPr marL="342900" indent="-342900" algn="l">
              <a:spcBef>
                <a:spcPts val="600"/>
              </a:spcBef>
              <a:buFont typeface="Arial"/>
              <a:buChar char="•"/>
            </a:pPr>
            <a:r>
              <a:rPr lang="en-US" sz="2400" dirty="0">
                <a:solidFill>
                  <a:srgbClr val="1A1A1A"/>
                </a:solidFill>
                <a:latin typeface="Helvetica Neue"/>
              </a:rPr>
              <a:t>Support load is flat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533400" y="419100"/>
            <a:ext cx="11125200" cy="857250"/>
          </a:xfrm>
        </p:spPr>
        <p:txBody>
          <a:bodyPr wrap="square" anchor="ctr">
            <a:normAutofit/>
          </a:bodyPr>
          <a:lstStyle/>
          <a:p>
            <a:pPr marL="0" indent="0" algn="l">
              <a:spcBef>
                <a:spcPts val="600"/>
              </a:spcBef>
              <a:buNone/>
            </a:pPr>
            <a:r>
              <a:rPr lang="en-US" sz="3600" b="1" dirty="0">
                <a:solidFill>
                  <a:srgbClr val="14355C"/>
                </a:solidFill>
                <a:latin typeface="Helvetica Neue"/>
              </a:rPr>
              <a:t>Two views</a:t>
            </a:r>
          </a:p>
        </p:txBody>
      </p:sp>
      <p:sp>
        <p:nvSpPr>
          <p:cNvPr id="3" name="Left column"/>
          <p:cNvSpPr txBox="1"/>
          <p:nvPr/>
        </p:nvSpPr>
        <p:spPr>
          <a:xfrm>
            <a:off x="533400" y="1524000"/>
            <a:ext cx="5372100" cy="4572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600"/>
              </a:spcBef>
              <a:buNone/>
            </a:pPr>
            <a:r>
              <a:rPr lang="en-US" sz="2400" dirty="0">
                <a:solidFill>
                  <a:srgbClr val="1A1A1A"/>
                </a:solidFill>
                <a:latin typeface="Helvetica Neue"/>
              </a:rPr>
              <a:t>Before the change</a:t>
            </a:r>
          </a:p>
          <a:p>
            <a:pPr marL="342900" indent="-342900" algn="l">
              <a:spcBef>
                <a:spcPts val="600"/>
              </a:spcBef>
              <a:buFont typeface="Arial"/>
              <a:buChar char="•"/>
            </a:pPr>
            <a:r>
              <a:rPr lang="en-US" sz="2400" dirty="0">
                <a:solidFill>
                  <a:srgbClr val="1A1A1A"/>
                </a:solidFill>
                <a:latin typeface="Helvetica Neue"/>
              </a:rPr>
              <a:t>Slow onboarding</a:t>
            </a:r>
          </a:p>
        </p:txBody>
      </p:sp>
      <p:sp>
        <p:nvSpPr>
          <p:cNvPr id="4" name="Right column"/>
          <p:cNvSpPr txBox="1"/>
          <p:nvPr/>
        </p:nvSpPr>
        <p:spPr>
          <a:xfrm>
            <a:off x="6286500" y="1524000"/>
            <a:ext cx="5372100" cy="4572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600"/>
              </a:spcBef>
              <a:buNone/>
            </a:pPr>
            <a:r>
              <a:rPr lang="en-US" sz="2400" dirty="0">
                <a:solidFill>
                  <a:srgbClr val="1A1A1A"/>
                </a:solidFill>
                <a:latin typeface="Helvetica Neue"/>
              </a:rPr>
              <a:t>After the change</a:t>
            </a:r>
          </a:p>
          <a:p>
            <a:pPr marL="342900" indent="-342900" algn="l">
              <a:spcBef>
                <a:spcPts val="600"/>
              </a:spcBef>
              <a:buFont typeface="Arial"/>
              <a:buChar char="•"/>
            </a:pPr>
            <a:r>
              <a:rPr lang="en-US" sz="2400" dirty="0">
                <a:solidFill>
                  <a:srgbClr val="1A1A1A"/>
                </a:solidFill>
                <a:latin typeface="Helvetica Neue"/>
              </a:rPr>
              <a:t>A first run in ten minutes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533400" y="419100"/>
            <a:ext cx="11125200" cy="857250"/>
          </a:xfrm>
        </p:spPr>
        <p:txBody>
          <a:bodyPr wrap="square" anchor="ctr">
            <a:normAutofit/>
          </a:bodyPr>
          <a:lstStyle/>
          <a:p>
            <a:pPr marL="0" indent="0" algn="l">
              <a:spcBef>
                <a:spcPts val="600"/>
              </a:spcBef>
              <a:buNone/>
            </a:pPr>
            <a:r>
              <a:rPr lang="en-US" sz="3600" b="1" dirty="0">
                <a:solidFill>
                  <a:srgbClr val="14355C"/>
                </a:solidFill>
                <a:latin typeface="Helvetica Neue"/>
              </a:rPr>
              <a:t>The product</a:t>
            </a:r>
          </a:p>
        </p:txBody>
      </p:sp>
      <p:pic>
        <p:nvPicPr>
          <p:cNvPr id="3" name="Picture 3" descr="A single white pixel, enlarge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1524000"/>
            <a:ext cx="4953000" cy="3714750"/>
          </a:xfrm>
          <a:prstGeom prst="rect">
            <a:avLst/>
          </a:prstGeom>
        </p:spPr>
      </p:pic>
      <p:sp>
        <p:nvSpPr>
          <p:cNvPr id="4" name="Body"/>
          <p:cNvSpPr txBox="1"/>
          <p:nvPr/>
        </p:nvSpPr>
        <p:spPr>
          <a:xfrm>
            <a:off x="5867400" y="1524000"/>
            <a:ext cx="5791200" cy="4572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600"/>
              </a:spcBef>
              <a:buNone/>
            </a:pPr>
            <a:r>
              <a:rPr lang="en-US" sz="2400" dirty="0">
                <a:solidFill>
                  <a:srgbClr val="1A1A1A"/>
                </a:solidFill>
                <a:latin typeface="Helvetica Neue"/>
              </a:rPr>
              <a:t>A single pixel, enlarged for the test.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533400" y="419100"/>
            <a:ext cx="11125200" cy="857250"/>
          </a:xfrm>
        </p:spPr>
        <p:txBody>
          <a:bodyPr wrap="square" anchor="ctr">
            <a:normAutofit/>
          </a:bodyPr>
          <a:lstStyle/>
          <a:p>
            <a:pPr marL="0" indent="0" algn="l">
              <a:spcBef>
                <a:spcPts val="600"/>
              </a:spcBef>
              <a:buNone/>
            </a:pPr>
            <a:r>
              <a:rPr lang="en-US" sz="3600" b="1" dirty="0">
                <a:solidFill>
                  <a:srgbClr val="14355C"/>
                </a:solidFill>
                <a:latin typeface="Helvetica Neue"/>
              </a:rPr>
              <a:t>Revenue by region</a:t>
            </a:r>
          </a:p>
        </p:txBody>
      </p:sp>
      <p:grpSp>
        <p:nvGrpSpPr>
          <p:cNvPr id="9" name="Chart" descr="Bar chart: North 12, South 9, East 15, West 7 million"/>
          <p:cNvGrpSpPr/>
          <p:nvPr/>
        </p:nvGrpSpPr>
        <p:grpSpPr>
          <a:xfrm>
            <a:off x="533400" y="1428750"/>
            <a:ext cx="6667500" cy="3619500"/>
            <a:chOff x="533400" y="1428750"/>
            <a:chExt cx="6667500" cy="3619500"/>
          </a:xfrm>
        </p:grpSpPr>
        <p:cxnSp>
          <p:nvCxnSpPr>
            <p:cNvPr id="10" name="Axis"/>
            <p:cNvCxnSpPr/>
            <p:nvPr/>
          </p:nvCxnSpPr>
          <p:spPr>
            <a:xfrm>
              <a:off x="990600" y="4629150"/>
              <a:ext cx="6134100" cy="0"/>
            </a:xfrm>
            <a:prstGeom prst="line">
              <a:avLst/>
            </a:prstGeom>
            <a:ln w="19050">
              <a:solidFill>
                <a:srgbClr val="1A1A1A"/>
              </a:solidFill>
            </a:ln>
          </p:spPr>
        </p:cxnSp>
        <p:sp>
          <p:nvSpPr>
            <p:cNvPr id="11" name="Bar 1"/>
            <p:cNvSpPr/>
            <p:nvPr/>
          </p:nvSpPr>
          <p:spPr>
            <a:xfrm>
              <a:off x="1297305" y="2282190"/>
              <a:ext cx="920115" cy="2346960"/>
            </a:xfrm>
            <a:prstGeom prst="rect">
              <a:avLst/>
            </a:prstGeom>
            <a:solidFill>
              <a:srgbClr val="1F4E79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Value 1"/>
            <p:cNvSpPr txBox="1"/>
            <p:nvPr/>
          </p:nvSpPr>
          <p:spPr>
            <a:xfrm>
              <a:off x="990600" y="2053590"/>
              <a:ext cx="1533525" cy="1905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rmAutofit/>
            </a:bodyPr>
            <a:lstStyle/>
            <a:p>
              <a:pPr marL="0" indent="0" algn="ctr">
                <a:spcBef>
                  <a:spcPts val="600"/>
                </a:spcBef>
                <a:buNone/>
              </a:pPr>
              <a:r>
                <a:rPr lang="en-US" sz="1200" dirty="0">
                  <a:solidFill>
                    <a:srgbClr val="1A1A1A"/>
                  </a:solidFill>
                  <a:latin typeface="Helvetica Neue"/>
                </a:rPr>
                <a:t>12M</a:t>
              </a:r>
            </a:p>
          </p:txBody>
        </p:sp>
        <p:sp>
          <p:nvSpPr>
            <p:cNvPr id="13" name="Label 1"/>
            <p:cNvSpPr txBox="1"/>
            <p:nvPr/>
          </p:nvSpPr>
          <p:spPr>
            <a:xfrm>
              <a:off x="990600" y="4705350"/>
              <a:ext cx="1533525" cy="2286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rmAutofit/>
            </a:bodyPr>
            <a:lstStyle/>
            <a:p>
              <a:pPr marL="0" indent="0" algn="ctr">
                <a:spcBef>
                  <a:spcPts val="600"/>
                </a:spcBef>
                <a:buNone/>
              </a:pPr>
              <a:r>
                <a:rPr lang="en-US" sz="1200" dirty="0">
                  <a:solidFill>
                    <a:srgbClr val="1A1A1A"/>
                  </a:solidFill>
                  <a:latin typeface="Helvetica Neue"/>
                </a:rPr>
                <a:t>North</a:t>
              </a:r>
            </a:p>
          </p:txBody>
        </p:sp>
        <p:sp>
          <p:nvSpPr>
            <p:cNvPr id="14" name="Bar 2"/>
            <p:cNvSpPr/>
            <p:nvPr/>
          </p:nvSpPr>
          <p:spPr>
            <a:xfrm>
              <a:off x="2830830" y="2868930"/>
              <a:ext cx="920115" cy="1760220"/>
            </a:xfrm>
            <a:prstGeom prst="rect">
              <a:avLst/>
            </a:prstGeom>
            <a:solidFill>
              <a:srgbClr val="1F4E79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Value 2"/>
            <p:cNvSpPr txBox="1"/>
            <p:nvPr/>
          </p:nvSpPr>
          <p:spPr>
            <a:xfrm>
              <a:off x="2524125" y="2640330"/>
              <a:ext cx="1533525" cy="1905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rmAutofit/>
            </a:bodyPr>
            <a:lstStyle/>
            <a:p>
              <a:pPr marL="0" indent="0" algn="ctr">
                <a:spcBef>
                  <a:spcPts val="600"/>
                </a:spcBef>
                <a:buNone/>
              </a:pPr>
              <a:r>
                <a:rPr lang="en-US" sz="1200" dirty="0">
                  <a:solidFill>
                    <a:srgbClr val="1A1A1A"/>
                  </a:solidFill>
                  <a:latin typeface="Helvetica Neue"/>
                </a:rPr>
                <a:t>9M</a:t>
              </a:r>
            </a:p>
          </p:txBody>
        </p:sp>
        <p:sp>
          <p:nvSpPr>
            <p:cNvPr id="16" name="Label 2"/>
            <p:cNvSpPr txBox="1"/>
            <p:nvPr/>
          </p:nvSpPr>
          <p:spPr>
            <a:xfrm>
              <a:off x="2524125" y="4705350"/>
              <a:ext cx="1533525" cy="2286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rmAutofit/>
            </a:bodyPr>
            <a:lstStyle/>
            <a:p>
              <a:pPr marL="0" indent="0" algn="ctr">
                <a:spcBef>
                  <a:spcPts val="600"/>
                </a:spcBef>
                <a:buNone/>
              </a:pPr>
              <a:r>
                <a:rPr lang="en-US" sz="1200" dirty="0">
                  <a:solidFill>
                    <a:srgbClr val="1A1A1A"/>
                  </a:solidFill>
                  <a:latin typeface="Helvetica Neue"/>
                </a:rPr>
                <a:t>South</a:t>
              </a:r>
            </a:p>
          </p:txBody>
        </p:sp>
        <p:sp>
          <p:nvSpPr>
            <p:cNvPr id="17" name="Bar 3"/>
            <p:cNvSpPr/>
            <p:nvPr/>
          </p:nvSpPr>
          <p:spPr>
            <a:xfrm>
              <a:off x="4364355" y="1695450"/>
              <a:ext cx="920115" cy="2933700"/>
            </a:xfrm>
            <a:prstGeom prst="rect">
              <a:avLst/>
            </a:prstGeom>
            <a:solidFill>
              <a:srgbClr val="1F4E79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Value 3"/>
            <p:cNvSpPr txBox="1"/>
            <p:nvPr/>
          </p:nvSpPr>
          <p:spPr>
            <a:xfrm>
              <a:off x="4057650" y="1466850"/>
              <a:ext cx="1533525" cy="1905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rmAutofit/>
            </a:bodyPr>
            <a:lstStyle/>
            <a:p>
              <a:pPr marL="0" indent="0" algn="ctr">
                <a:spcBef>
                  <a:spcPts val="600"/>
                </a:spcBef>
                <a:buNone/>
              </a:pPr>
              <a:r>
                <a:rPr lang="en-US" sz="1200" dirty="0">
                  <a:solidFill>
                    <a:srgbClr val="1A1A1A"/>
                  </a:solidFill>
                  <a:latin typeface="Helvetica Neue"/>
                </a:rPr>
                <a:t>15M</a:t>
              </a:r>
            </a:p>
          </p:txBody>
        </p:sp>
        <p:sp>
          <p:nvSpPr>
            <p:cNvPr id="19" name="Label 3"/>
            <p:cNvSpPr txBox="1"/>
            <p:nvPr/>
          </p:nvSpPr>
          <p:spPr>
            <a:xfrm>
              <a:off x="4057650" y="4705350"/>
              <a:ext cx="1533525" cy="2286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rmAutofit/>
            </a:bodyPr>
            <a:lstStyle/>
            <a:p>
              <a:pPr marL="0" indent="0" algn="ctr">
                <a:spcBef>
                  <a:spcPts val="600"/>
                </a:spcBef>
                <a:buNone/>
              </a:pPr>
              <a:r>
                <a:rPr lang="en-US" sz="1200" dirty="0">
                  <a:solidFill>
                    <a:srgbClr val="1A1A1A"/>
                  </a:solidFill>
                  <a:latin typeface="Helvetica Neue"/>
                </a:rPr>
                <a:t>East</a:t>
              </a:r>
            </a:p>
          </p:txBody>
        </p:sp>
        <p:sp>
          <p:nvSpPr>
            <p:cNvPr id="20" name="Bar 4"/>
            <p:cNvSpPr/>
            <p:nvPr/>
          </p:nvSpPr>
          <p:spPr>
            <a:xfrm>
              <a:off x="5897880" y="3260090"/>
              <a:ext cx="920115" cy="1369060"/>
            </a:xfrm>
            <a:prstGeom prst="rect">
              <a:avLst/>
            </a:prstGeom>
            <a:solidFill>
              <a:srgbClr val="1F4E79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Value 4"/>
            <p:cNvSpPr txBox="1"/>
            <p:nvPr/>
          </p:nvSpPr>
          <p:spPr>
            <a:xfrm>
              <a:off x="5591175" y="3031490"/>
              <a:ext cx="1533525" cy="1905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rmAutofit/>
            </a:bodyPr>
            <a:lstStyle/>
            <a:p>
              <a:pPr marL="0" indent="0" algn="ctr">
                <a:spcBef>
                  <a:spcPts val="600"/>
                </a:spcBef>
                <a:buNone/>
              </a:pPr>
              <a:r>
                <a:rPr lang="en-US" sz="1200" dirty="0">
                  <a:solidFill>
                    <a:srgbClr val="1A1A1A"/>
                  </a:solidFill>
                  <a:latin typeface="Helvetica Neue"/>
                </a:rPr>
                <a:t>7M</a:t>
              </a:r>
            </a:p>
          </p:txBody>
        </p:sp>
        <p:sp>
          <p:nvSpPr>
            <p:cNvPr id="22" name="Label 4"/>
            <p:cNvSpPr txBox="1"/>
            <p:nvPr/>
          </p:nvSpPr>
          <p:spPr>
            <a:xfrm>
              <a:off x="5591175" y="4705350"/>
              <a:ext cx="1533525" cy="2286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rmAutofit/>
            </a:bodyPr>
            <a:lstStyle/>
            <a:p>
              <a:pPr marL="0" indent="0" algn="ctr">
                <a:spcBef>
                  <a:spcPts val="600"/>
                </a:spcBef>
                <a:buNone/>
              </a:pPr>
              <a:r>
                <a:rPr lang="en-US" sz="1200" dirty="0">
                  <a:solidFill>
                    <a:srgbClr val="1A1A1A"/>
                  </a:solidFill>
                  <a:latin typeface="Helvetica Neue"/>
                </a:rPr>
                <a:t>West</a:t>
              </a:r>
            </a:p>
          </p:txBody>
        </p:sp>
      </p:grpSp>
      <p:sp>
        <p:nvSpPr>
          <p:cNvPr id="3" name="Body"/>
          <p:cNvSpPr txBox="1"/>
          <p:nvPr/>
        </p:nvSpPr>
        <p:spPr>
          <a:xfrm>
            <a:off x="533400" y="5238750"/>
            <a:ext cx="11125200" cy="123825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600"/>
              </a:spcBef>
              <a:buNone/>
            </a:pPr>
            <a:r>
              <a:rPr lang="en-US" sz="2400" dirty="0">
                <a:solidFill>
                  <a:srgbClr val="1A1A1A"/>
                </a:solidFill>
                <a:latin typeface="Helvetica Neue"/>
              </a:rPr>
              <a:t>Figures are in millions.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533400" y="419100"/>
            <a:ext cx="11125200" cy="571500"/>
          </a:xfrm>
        </p:spPr>
        <p:txBody>
          <a:bodyPr wrap="square" anchor="ctr">
            <a:normAutofit/>
          </a:bodyPr>
          <a:lstStyle/>
          <a:p>
            <a:pPr marL="0" indent="0" algn="l">
              <a:spcBef>
                <a:spcPts val="600"/>
              </a:spcBef>
              <a:buNone/>
            </a:pPr>
            <a:r>
              <a:rPr lang="en-US" sz="2200" b="1" dirty="0">
                <a:solidFill>
                  <a:srgbClr val="1F4E79"/>
                </a:solidFill>
                <a:latin typeface="Helvetica Neue"/>
              </a:rPr>
              <a:t>In their words</a:t>
            </a:r>
          </a:p>
        </p:txBody>
      </p:sp>
      <p:sp>
        <p:nvSpPr>
          <p:cNvPr id="3" name="Quote"/>
          <p:cNvSpPr txBox="1"/>
          <p:nvPr/>
        </p:nvSpPr>
        <p:spPr>
          <a:xfrm>
            <a:off x="914400" y="1905000"/>
            <a:ext cx="10363200" cy="28575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spcBef>
                <a:spcPts val="600"/>
              </a:spcBef>
              <a:buNone/>
            </a:pPr>
            <a:r>
              <a:rPr lang="en-US" sz="3400" i="1" dirty="0">
                <a:solidFill>
                  <a:srgbClr val="1A1A1A"/>
                </a:solidFill>
                <a:latin typeface="Helvetica Neue"/>
              </a:rPr>
              <a:t>The first tool that did not get in my way.</a:t>
            </a:r>
          </a:p>
        </p:txBody>
      </p:sp>
      <p:sp>
        <p:nvSpPr>
          <p:cNvPr id="4" name="Attribution"/>
          <p:cNvSpPr txBox="1"/>
          <p:nvPr/>
        </p:nvSpPr>
        <p:spPr>
          <a:xfrm>
            <a:off x="914400" y="4953000"/>
            <a:ext cx="10363200" cy="5715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600"/>
              </a:spcBef>
              <a:buNone/>
            </a:pPr>
            <a:r>
              <a:rPr lang="en-US" sz="2200" dirty="0">
                <a:solidFill>
                  <a:srgbClr val="14355C"/>
                </a:solidFill>
                <a:latin typeface="Helvetica Neue"/>
              </a:rPr>
              <a:t>— A customer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533400" y="1905000"/>
            <a:ext cx="11125200" cy="1238250"/>
          </a:xfrm>
        </p:spPr>
        <p:txBody>
          <a:bodyPr wrap="square" anchor="ctr">
            <a:normAutofit/>
          </a:bodyPr>
          <a:lstStyle/>
          <a:p>
            <a:pPr marL="0" indent="0" algn="l">
              <a:spcBef>
                <a:spcPts val="600"/>
              </a:spcBef>
              <a:buNone/>
            </a:pPr>
            <a:r>
              <a:rPr lang="en-US" sz="5400" b="1" dirty="0">
                <a:solidFill>
                  <a:srgbClr val="FFFFFF"/>
                </a:solidFill>
                <a:latin typeface="Helvetica Neue"/>
              </a:rPr>
              <a:t>Next steps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533400" y="3333750"/>
            <a:ext cx="11125200" cy="2286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600"/>
              </a:spcBef>
              <a:buNone/>
            </a:pPr>
            <a:r>
              <a:rPr lang="en-US" sz="2600" dirty="0">
                <a:solidFill>
                  <a:srgbClr val="FFFFFF"/>
                </a:solidFill>
                <a:latin typeface="Helvetica Neue"/>
              </a:rPr>
              <a:t>Ship the onboarding change.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Quansio">
  <a:themeElements>
    <a:clrScheme name="Quansio">
      <a:dk1>
        <a:srgbClr val="000000"/>
      </a:dk1>
      <a:lt1>
        <a:srgbClr val="FFFFFF"/>
      </a:lt1>
      <a:dk2>
        <a:srgbClr val="1F2A44"/>
      </a:dk2>
      <a:lt2>
        <a:srgbClr val="EEF1F6"/>
      </a:lt2>
      <a:accent1>
        <a:srgbClr val="1F4E79"/>
      </a:accent1>
      <a:accent2>
        <a:srgbClr val="2E75B6"/>
      </a:accent2>
      <a:accent3>
        <a:srgbClr val="5B9BD5"/>
      </a:accent3>
      <a:accent4>
        <a:srgbClr val="A5A5A5"/>
      </a:accent4>
      <a:accent5>
        <a:srgbClr val="ED7D31"/>
      </a:accent5>
      <a:accent6>
        <a:srgbClr val="70AD47"/>
      </a:accent6>
      <a:hlink>
        <a:srgbClr val="0563C1"/>
      </a:hlink>
      <a:folHlink>
        <a:srgbClr val="954F72"/>
      </a:folHlink>
    </a:clrScheme>
    <a:fontScheme name="Quansio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Quansio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Quansio notes">
  <a:themeElements>
    <a:clrScheme name="Quansio">
      <a:dk1>
        <a:srgbClr val="000000"/>
      </a:dk1>
      <a:lt1>
        <a:srgbClr val="FFFFFF"/>
      </a:lt1>
      <a:dk2>
        <a:srgbClr val="1F2A44"/>
      </a:dk2>
      <a:lt2>
        <a:srgbClr val="EEF1F6"/>
      </a:lt2>
      <a:accent1>
        <a:srgbClr val="1F4E79"/>
      </a:accent1>
      <a:accent2>
        <a:srgbClr val="2E75B6"/>
      </a:accent2>
      <a:accent3>
        <a:srgbClr val="5B9BD5"/>
      </a:accent3>
      <a:accent4>
        <a:srgbClr val="A5A5A5"/>
      </a:accent4>
      <a:accent5>
        <a:srgbClr val="ED7D31"/>
      </a:accent5>
      <a:accent6>
        <a:srgbClr val="70AD47"/>
      </a:accent6>
      <a:hlink>
        <a:srgbClr val="0563C1"/>
      </a:hlink>
      <a:folHlink>
        <a:srgbClr val="954F72"/>
      </a:folHlink>
    </a:clrScheme>
    <a:fontScheme name="Quansio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Quansio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Quansio</Application>
  <Slides>7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Layouts</dc:title>
  <dc:creator>Quansio</dc:creator>
  <dcterms:created xsi:type="dcterms:W3CDTF">1980-01-01T00:00:00Z</dcterms:created>
  <dcterms:modified xsi:type="dcterms:W3CDTF">1980-01-01T00:00:00Z</dcterms:modified>
</cp:coreProperties>
</file>